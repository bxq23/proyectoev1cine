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15400" y="731520"/>
            <a:ext cx="2560320" cy="5394960"/>
          </a:xfrm>
          <a:prstGeom prst="roundRect">
            <a:avLst>
              <a:gd name="adj" fmla="val 8000"/>
            </a:avLst>
          </a:prstGeom>
          <a:solidFill>
            <a:srgbClr val="11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1143000"/>
            <a:ext cx="1737360" cy="4572000"/>
          </a:xfrm>
          <a:prstGeom prst="roundRect">
            <a:avLst>
              <a:gd name="adj" fmla="val 8000"/>
            </a:avLst>
          </a:prstGeom>
          <a:solidFill>
            <a:srgbClr val="17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98280" y="1828800"/>
            <a:ext cx="23774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3500" b="1" i="0">
                <a:solidFill>
                  <a:srgbClr val="FF7043"/>
                </a:solidFill>
                <a:latin typeface="Aptos"/>
              </a:rPr>
              <a:t>CINE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2423160"/>
            <a:ext cx="28346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2700" b="1" i="0">
                <a:solidFill>
                  <a:srgbClr val="F5F7FA"/>
                </a:solidFill>
                <a:latin typeface="Aptos"/>
              </a:rPr>
              <a:t>NOCTURNO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7040880" cy="1463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3800" b="1" i="0">
                <a:solidFill>
                  <a:srgbClr val="F5F7FA"/>
                </a:solidFill>
                <a:latin typeface="Aptos"/>
              </a:rPr>
              <a:t>SEGUNDA
EVALUACIÓN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2697480"/>
            <a:ext cx="117043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035808"/>
            <a:ext cx="704088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200" b="0" i="0">
                <a:solidFill>
                  <a:srgbClr val="AEBBD0"/>
                </a:solidFill>
                <a:latin typeface="Aptos"/>
              </a:rPr>
              <a:t>Despliegue cloud, persistencia y mensajería asíncrona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041648"/>
            <a:ext cx="6720840" cy="914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0" i="0">
                <a:solidFill>
                  <a:srgbClr val="F5F7FA"/>
                </a:solidFill>
                <a:latin typeface="Aptos"/>
              </a:rPr>
              <a:t>De una primera entrega sin servidor AWS operativo a un flujo principal desplegado y validado.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49240"/>
            <a:ext cx="2880360" cy="329184"/>
          </a:xfrm>
          <a:prstGeom prst="roundRect">
            <a:avLst>
              <a:gd name="adj" fmla="val 8000"/>
            </a:avLst>
          </a:prstGeom>
          <a:solidFill>
            <a:srgbClr val="17223B"/>
          </a:solidFill>
          <a:ln w="13970">
            <a:solidFill>
              <a:srgbClr val="33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5372100"/>
            <a:ext cx="2752344" cy="26517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000" b="1" i="0">
                <a:solidFill>
                  <a:srgbClr val="33D3B0"/>
                </a:solidFill>
                <a:latin typeface="Aptos"/>
              </a:rPr>
              <a:t>AWS · SPRING BOOT · RABBITMQ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28232"/>
            <a:ext cx="5943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900" b="0" i="0">
                <a:solidFill>
                  <a:srgbClr val="AEBBD0"/>
                </a:solidFill>
                <a:latin typeface="Aptos"/>
              </a:rPr>
              <a:t>Proyecto académico  | 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4114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950" b="1" i="0">
                <a:solidFill>
                  <a:srgbClr val="33D3B0"/>
                </a:solidFill>
                <a:latin typeface="Aptos"/>
              </a:rPr>
              <a:t>01 · AVANCE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700" b="1" i="0">
                <a:solidFill>
                  <a:srgbClr val="F5F7FA"/>
                </a:solidFill>
                <a:latin typeface="Aptos"/>
              </a:rPr>
              <a:t>La evolución entre entregas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960120" cy="4114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1018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850" b="0" i="0">
                <a:solidFill>
                  <a:srgbClr val="AEBBD0"/>
                </a:solidFill>
                <a:latin typeface="Aptos"/>
              </a:rPr>
              <a:t>CINE NOCTURNO  •  EVALUACIÓN 2                                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5120640" cy="4434840"/>
          </a:xfrm>
          <a:prstGeom prst="roundRect">
            <a:avLst>
              <a:gd name="adj" fmla="val 8000"/>
            </a:avLst>
          </a:prstGeom>
          <a:solidFill>
            <a:srgbClr val="17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1874519" cy="329184"/>
          </a:xfrm>
          <a:prstGeom prst="roundRect">
            <a:avLst>
              <a:gd name="adj" fmla="val 8000"/>
            </a:avLst>
          </a:prstGeom>
          <a:solidFill>
            <a:srgbClr val="111A30"/>
          </a:solidFill>
          <a:ln w="1397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05939"/>
            <a:ext cx="1746503" cy="26517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  <a:latin typeface="Aptos"/>
              </a:rPr>
              <a:t>PRIMERA ENTREGA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31720"/>
            <a:ext cx="448056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300" b="1" i="0">
                <a:solidFill>
                  <a:srgbClr val="F5F7FA"/>
                </a:solidFill>
                <a:latin typeface="Aptos"/>
              </a:rPr>
              <a:t>El servidor AWS no quedó operativo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480560" cy="201168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buChar char="•"/>
              <a:spcAft>
                <a:spcPts val="1100"/>
              </a:spcAft>
              <a:defRPr sz="1500">
                <a:solidFill>
                  <a:srgbClr val="AEBBD0"/>
                </a:solidFill>
                <a:latin typeface="Aptos"/>
              </a:defRPr>
            </a:pPr>
            <a:r>
              <a:t>La demostración quedó limitada a avances de código y pruebas locales.</a:t>
            </a:r>
          </a:p>
          <a:p>
            <a:pPr>
              <a:buChar char="•"/>
              <a:spcAft>
                <a:spcPts val="1100"/>
              </a:spcAft>
              <a:defRPr sz="1500">
                <a:solidFill>
                  <a:srgbClr val="AEBBD0"/>
                </a:solidFill>
                <a:latin typeface="Aptos"/>
              </a:defRPr>
            </a:pPr>
            <a:r>
              <a:t>El despliegue cloud fue el principal obstáculo de la entrega.</a:t>
            </a:r>
          </a:p>
          <a:p>
            <a:pPr>
              <a:buChar char="•"/>
              <a:spcAft>
                <a:spcPts val="1100"/>
              </a:spcAft>
              <a:defRPr sz="1500">
                <a:solidFill>
                  <a:srgbClr val="AEBBD0"/>
                </a:solidFill>
                <a:latin typeface="Aptos"/>
              </a:defRPr>
            </a:pPr>
            <a:r>
              <a:t>No era posible mostrar el flujo completo desde una URL pública estable.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1C2A46"/>
          </a:solidFill>
          <a:ln w="13970">
            <a:solidFill>
              <a:srgbClr val="33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783080"/>
            <a:ext cx="1920240" cy="329184"/>
          </a:xfrm>
          <a:prstGeom prst="roundRect">
            <a:avLst>
              <a:gd name="adj" fmla="val 8000"/>
            </a:avLst>
          </a:prstGeom>
          <a:solidFill>
            <a:srgbClr val="0B1020"/>
          </a:solidFill>
          <a:ln w="13970">
            <a:solidFill>
              <a:srgbClr val="33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805939"/>
            <a:ext cx="1792224" cy="26517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000" b="1" i="0">
                <a:solidFill>
                  <a:srgbClr val="33D3B0"/>
                </a:solidFill>
                <a:latin typeface="Aptos"/>
              </a:rPr>
              <a:t>SEGUNDA ENTREGA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331720"/>
            <a:ext cx="461772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300" b="1" i="0">
                <a:solidFill>
                  <a:srgbClr val="F5F7FA"/>
                </a:solidFill>
                <a:latin typeface="Aptos"/>
              </a:rPr>
              <a:t>El flujo principal ya funciona en AWS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090672"/>
            <a:ext cx="4480560" cy="246888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buChar char="•"/>
              <a:spcAft>
                <a:spcPts val="8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EC2 con Nginx y HTTPS en un dominio estable.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RDS MySQL conectado para guardar reservas y disponibilidad.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Inicio de sesión, reserva y cancelación validados desde la web.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RabbitMQ de dos nodos y las tres DLQ comprobadas con mensajes de prueba.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08192"/>
            <a:ext cx="106070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600" b="1" i="0">
                <a:solidFill>
                  <a:srgbClr val="33D3B0"/>
                </a:solidFill>
                <a:latin typeface="Aptos"/>
              </a:rPr>
              <a:t>Resultado: se pasó de no tener un servidor cloud demostrable a una implementación operativa del flujo principal.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4114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950" b="1" i="0">
                <a:solidFill>
                  <a:srgbClr val="33D3B0"/>
                </a:solidFill>
                <a:latin typeface="Aptos"/>
              </a:rPr>
              <a:t>02 ·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700" b="1" i="0">
                <a:solidFill>
                  <a:srgbClr val="F5F7FA"/>
                </a:solidFill>
                <a:latin typeface="Aptos"/>
              </a:rPr>
              <a:t>Arquitectura desplegada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960120" cy="4114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1018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850" b="0" i="0">
                <a:solidFill>
                  <a:srgbClr val="AEBBD0"/>
                </a:solidFill>
                <a:latin typeface="Aptos"/>
              </a:rPr>
              <a:t>CINE NOCTURNO  •  EVALUACIÓN 2                                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1828800" cy="960120"/>
          </a:xfrm>
          <a:prstGeom prst="roundRect">
            <a:avLst>
              <a:gd name="adj" fmla="val 8000"/>
            </a:avLst>
          </a:prstGeom>
          <a:solidFill>
            <a:srgbClr val="1C2A46"/>
          </a:solidFill>
          <a:ln w="13970">
            <a:solidFill>
              <a:srgbClr val="5B9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746504"/>
            <a:ext cx="16824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500" b="1" i="0">
                <a:solidFill>
                  <a:srgbClr val="F5F7FA"/>
                </a:solidFill>
                <a:latin typeface="Aptos"/>
              </a:rPr>
              <a:t>Navegador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103120"/>
            <a:ext cx="1682496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050" b="0" i="0">
                <a:solidFill>
                  <a:srgbClr val="5B9DF5"/>
                </a:solidFill>
                <a:latin typeface="Aptos"/>
              </a:rPr>
              <a:t>React / Vite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600200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1C2A46"/>
          </a:solidFill>
          <a:ln w="13970"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1746504"/>
            <a:ext cx="200253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500" b="1" i="0">
                <a:solidFill>
                  <a:srgbClr val="F5F7FA"/>
                </a:solidFill>
                <a:latin typeface="Aptos"/>
              </a:rPr>
              <a:t>EC2 · Nginx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2103120"/>
            <a:ext cx="2002536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050" b="0" i="0">
                <a:solidFill>
                  <a:srgbClr val="FF7043"/>
                </a:solidFill>
                <a:latin typeface="Aptos"/>
              </a:rPr>
              <a:t>HTTPS + proxy /api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600200"/>
            <a:ext cx="2011680" cy="960120"/>
          </a:xfrm>
          <a:prstGeom prst="roundRect">
            <a:avLst>
              <a:gd name="adj" fmla="val 8000"/>
            </a:avLst>
          </a:prstGeom>
          <a:solidFill>
            <a:srgbClr val="1C2A46"/>
          </a:solidFill>
          <a:ln w="13970">
            <a:solidFill>
              <a:srgbClr val="33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2" y="1746504"/>
            <a:ext cx="186537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500" b="1" i="0">
                <a:solidFill>
                  <a:srgbClr val="F5F7FA"/>
                </a:solidFill>
                <a:latin typeface="Aptos"/>
              </a:rPr>
              <a:t>cine-backend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2103120"/>
            <a:ext cx="1865376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050" b="0" i="0">
                <a:solidFill>
                  <a:srgbClr val="33D3B0"/>
                </a:solidFill>
                <a:latin typeface="Aptos"/>
              </a:rPr>
              <a:t>Spring Boot · 8080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600200"/>
            <a:ext cx="2011680" cy="960120"/>
          </a:xfrm>
          <a:prstGeom prst="roundRect">
            <a:avLst>
              <a:gd name="adj" fmla="val 8000"/>
            </a:avLst>
          </a:prstGeom>
          <a:solidFill>
            <a:srgbClr val="1C2A46"/>
          </a:solidFill>
          <a:ln w="13970">
            <a:solidFill>
              <a:srgbClr val="33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8392" y="1746504"/>
            <a:ext cx="186537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500" b="1" i="0">
                <a:solidFill>
                  <a:srgbClr val="F5F7FA"/>
                </a:solidFill>
                <a:latin typeface="Aptos"/>
              </a:rPr>
              <a:t>cine-core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2103120"/>
            <a:ext cx="1865376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050" b="0" i="0">
                <a:solidFill>
                  <a:srgbClr val="33D3B0"/>
                </a:solidFill>
                <a:latin typeface="Aptos"/>
              </a:rPr>
              <a:t>Spring Boot · 8081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12680" y="1600200"/>
            <a:ext cx="1600200" cy="960120"/>
          </a:xfrm>
          <a:prstGeom prst="roundRect">
            <a:avLst>
              <a:gd name="adj" fmla="val 8000"/>
            </a:avLst>
          </a:prstGeom>
          <a:solidFill>
            <a:srgbClr val="1C2A46"/>
          </a:solidFill>
          <a:ln w="1397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85832" y="1746504"/>
            <a:ext cx="14538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500" b="1" i="0">
                <a:solidFill>
                  <a:srgbClr val="F5F7FA"/>
                </a:solidFill>
                <a:latin typeface="Aptos"/>
              </a:rPr>
              <a:t>RDS MySQL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85832" y="2103120"/>
            <a:ext cx="1453896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050" b="0" i="0">
                <a:solidFill>
                  <a:srgbClr val="FFC857"/>
                </a:solidFill>
                <a:latin typeface="Aptos"/>
              </a:rPr>
              <a:t>Datos cloud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23160" y="2066543"/>
            <a:ext cx="320040" cy="0"/>
          </a:xfrm>
          <a:prstGeom prst="line">
            <a:avLst/>
          </a:prstGeom>
          <a:ln w="22860">
            <a:solidFill>
              <a:srgbClr val="AE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892040" y="2066543"/>
            <a:ext cx="365760" cy="0"/>
          </a:xfrm>
          <a:prstGeom prst="line">
            <a:avLst/>
          </a:prstGeom>
          <a:ln w="22860">
            <a:solidFill>
              <a:srgbClr val="AE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269480" y="2066543"/>
            <a:ext cx="365760" cy="0"/>
          </a:xfrm>
          <a:prstGeom prst="line">
            <a:avLst/>
          </a:prstGeom>
          <a:ln w="22860">
            <a:solidFill>
              <a:srgbClr val="AE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646920" y="2066543"/>
            <a:ext cx="365760" cy="0"/>
          </a:xfrm>
          <a:prstGeom prst="line">
            <a:avLst/>
          </a:prstGeom>
          <a:ln w="22860">
            <a:solidFill>
              <a:srgbClr val="AE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" y="3200400"/>
            <a:ext cx="10287000" cy="2148840"/>
          </a:xfrm>
          <a:prstGeom prst="roundRect">
            <a:avLst>
              <a:gd name="adj" fmla="val 8000"/>
            </a:avLst>
          </a:prstGeom>
          <a:solidFill>
            <a:srgbClr val="17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3401568"/>
            <a:ext cx="3200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900" b="1" i="0">
                <a:solidFill>
                  <a:srgbClr val="FF7043"/>
                </a:solidFill>
                <a:latin typeface="Aptos"/>
              </a:rPr>
              <a:t>Mensajería asíncrona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794760"/>
            <a:ext cx="30175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0" i="0">
                <a:solidFill>
                  <a:srgbClr val="AEBBD0"/>
                </a:solidFill>
                <a:latin typeface="Aptos"/>
              </a:rPr>
              <a:t>RabbitMQ 3.13 · clúster de dos nodos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3520440"/>
            <a:ext cx="1828800" cy="658368"/>
          </a:xfrm>
          <a:prstGeom prst="roundRect">
            <a:avLst>
              <a:gd name="adj" fmla="val 8000"/>
            </a:avLst>
          </a:prstGeom>
          <a:solidFill>
            <a:srgbClr val="111A30"/>
          </a:solidFill>
          <a:ln w="13970">
            <a:solidFill>
              <a:srgbClr val="5B9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694176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400" b="1" i="0">
                <a:solidFill>
                  <a:srgbClr val="5B9DF5"/>
                </a:solidFill>
                <a:latin typeface="Aptos"/>
              </a:rPr>
              <a:t>cine.direct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3520440"/>
            <a:ext cx="1828800" cy="658368"/>
          </a:xfrm>
          <a:prstGeom prst="roundRect">
            <a:avLst>
              <a:gd name="adj" fmla="val 8000"/>
            </a:avLst>
          </a:prstGeom>
          <a:solidFill>
            <a:srgbClr val="111A30"/>
          </a:solidFill>
          <a:ln w="13970">
            <a:solidFill>
              <a:srgbClr val="33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694176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400" b="1" i="0">
                <a:solidFill>
                  <a:srgbClr val="33D3B0"/>
                </a:solidFill>
                <a:latin typeface="Aptos"/>
              </a:rPr>
              <a:t>cine.topic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49640" y="3429000"/>
            <a:ext cx="2148840" cy="868680"/>
          </a:xfrm>
          <a:prstGeom prst="roundRect">
            <a:avLst>
              <a:gd name="adj" fmla="val 8000"/>
            </a:avLst>
          </a:prstGeom>
          <a:solidFill>
            <a:srgbClr val="111A30"/>
          </a:solidFill>
          <a:ln w="1397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1080" y="3566160"/>
            <a:ext cx="19659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500" b="1" i="0">
                <a:solidFill>
                  <a:srgbClr val="FFC857"/>
                </a:solidFill>
                <a:latin typeface="Aptos"/>
              </a:rPr>
              <a:t>6 colas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3886200"/>
            <a:ext cx="19659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050" b="0" i="0">
                <a:solidFill>
                  <a:srgbClr val="AEBBD0"/>
                </a:solidFill>
                <a:latin typeface="Aptos"/>
              </a:rPr>
              <a:t>3 principales + 3 DLQ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263640" y="3840480"/>
            <a:ext cx="228600" cy="0"/>
          </a:xfrm>
          <a:prstGeom prst="line">
            <a:avLst/>
          </a:prstGeom>
          <a:ln w="19050">
            <a:solidFill>
              <a:srgbClr val="AE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321040" y="3840480"/>
            <a:ext cx="228600" cy="0"/>
          </a:xfrm>
          <a:prstGeom prst="line">
            <a:avLst/>
          </a:prstGeom>
          <a:ln w="19050">
            <a:solidFill>
              <a:srgbClr val="AEB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143000" y="4645152"/>
            <a:ext cx="8961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Aptos"/>
              </a:rPr>
              <a:t>cine-rabbit-admin (8082): API administrativa con X-Admin-Key; permanece interna.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500" b="1" i="0">
                <a:solidFill>
                  <a:srgbClr val="33D3B0"/>
                </a:solidFill>
                <a:latin typeface="Aptos"/>
              </a:rPr>
              <a:t>Nginx es el punto de entrada público; los puertos internos no se exponen directamente.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4114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950" b="1" i="0">
                <a:solidFill>
                  <a:srgbClr val="33D3B0"/>
                </a:solidFill>
                <a:latin typeface="Aptos"/>
              </a:rPr>
              <a:t>03 ·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700" b="1" i="0">
                <a:solidFill>
                  <a:srgbClr val="F5F7FA"/>
                </a:solidFill>
                <a:latin typeface="Aptos"/>
              </a:rPr>
              <a:t>Tecnologías elegidas y por qué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960120" cy="4114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1018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850" b="0" i="0">
                <a:solidFill>
                  <a:srgbClr val="AEBBD0"/>
                </a:solidFill>
                <a:latin typeface="Aptos"/>
              </a:rPr>
              <a:t>CINE NOCTURNO  •  EVALUACIÓN 2                                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17223B"/>
          </a:solidFill>
          <a:ln w="13970">
            <a:solidFill>
              <a:srgbClr val="5B9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1719072"/>
            <a:ext cx="82296" cy="384048"/>
          </a:xfrm>
          <a:prstGeom prst="roundRect">
            <a:avLst>
              <a:gd name="adj" fmla="val 8000"/>
            </a:avLst>
          </a:prstGeom>
          <a:solidFill>
            <a:srgbClr val="5B9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691639"/>
            <a:ext cx="295351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Aptos"/>
              </a:rPr>
              <a:t>React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258568"/>
            <a:ext cx="3026664" cy="6949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 i="0">
                <a:solidFill>
                  <a:srgbClr val="AEBBD0"/>
                </a:solidFill>
                <a:latin typeface="Aptos"/>
              </a:rPr>
              <a:t>Interfaz rápida para cartelera, login, reservas y navegación.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17223B"/>
          </a:solidFill>
          <a:ln w="13970">
            <a:solidFill>
              <a:srgbClr val="33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44568" y="1719072"/>
            <a:ext cx="82296" cy="384048"/>
          </a:xfrm>
          <a:prstGeom prst="roundRect">
            <a:avLst>
              <a:gd name="adj" fmla="val 8000"/>
            </a:avLst>
          </a:prstGeom>
          <a:solidFill>
            <a:srgbClr val="33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1691639"/>
            <a:ext cx="295351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Aptos"/>
              </a:rPr>
              <a:t>Java 17 + Spring Boot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58568"/>
            <a:ext cx="3026664" cy="6949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 i="0">
                <a:solidFill>
                  <a:srgbClr val="AEBBD0"/>
                </a:solidFill>
                <a:latin typeface="Aptos"/>
              </a:rPr>
              <a:t>Servicios desacoplados: API, negocio y administración RabbitMQ.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0876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17223B"/>
          </a:solidFill>
          <a:ln w="1397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93608" y="1719072"/>
            <a:ext cx="82296" cy="384048"/>
          </a:xfrm>
          <a:prstGeom prst="roundRect">
            <a:avLst>
              <a:gd name="adj" fmla="val 8000"/>
            </a:avLst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1691639"/>
            <a:ext cx="295351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Aptos"/>
              </a:rPr>
              <a:t>Amazon RDS · MySQL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258568"/>
            <a:ext cx="3026664" cy="6949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 i="0">
                <a:solidFill>
                  <a:srgbClr val="AEBBD0"/>
                </a:solidFill>
                <a:latin typeface="Aptos"/>
              </a:rPr>
              <a:t>Persistencia administrada; mantiene funciones, reservas y asientos.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52044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17223B"/>
          </a:solidFill>
          <a:ln w="13970"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5528" y="3730752"/>
            <a:ext cx="82296" cy="384048"/>
          </a:xfrm>
          <a:prstGeom prst="roundRect">
            <a:avLst>
              <a:gd name="adj" fmla="val 8000"/>
            </a:avLst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3703320"/>
            <a:ext cx="295351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Aptos"/>
              </a:rPr>
              <a:t>Firebase Authentication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270248"/>
            <a:ext cx="3026664" cy="6949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 i="0">
                <a:solidFill>
                  <a:srgbClr val="AEBBD0"/>
                </a:solidFill>
                <a:latin typeface="Aptos"/>
              </a:rPr>
              <a:t>Identidad y acceso con inicio de sesión de Google.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52044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17223B"/>
          </a:solidFill>
          <a:ln w="13970">
            <a:solidFill>
              <a:srgbClr val="33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44568" y="3730752"/>
            <a:ext cx="82296" cy="384048"/>
          </a:xfrm>
          <a:prstGeom prst="roundRect">
            <a:avLst>
              <a:gd name="adj" fmla="val 8000"/>
            </a:avLst>
          </a:prstGeom>
          <a:solidFill>
            <a:srgbClr val="33D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3703320"/>
            <a:ext cx="295351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Aptos"/>
              </a:rPr>
              <a:t>RabbitMQ 3.13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4270248"/>
            <a:ext cx="3026664" cy="6949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 i="0">
                <a:solidFill>
                  <a:srgbClr val="AEBBD0"/>
                </a:solidFill>
                <a:latin typeface="Aptos"/>
              </a:rPr>
              <a:t>Procesa eventos fuera de la petición web y mantiene DLQ para fallos.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52044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17223B"/>
          </a:solidFill>
          <a:ln w="13970">
            <a:solidFill>
              <a:srgbClr val="5B9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93608" y="3730752"/>
            <a:ext cx="82296" cy="384048"/>
          </a:xfrm>
          <a:prstGeom prst="roundRect">
            <a:avLst>
              <a:gd name="adj" fmla="val 8000"/>
            </a:avLst>
          </a:prstGeom>
          <a:solidFill>
            <a:srgbClr val="5B9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76488" y="3703320"/>
            <a:ext cx="295351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Aptos"/>
              </a:rPr>
              <a:t>EC2 + Nginx + HTTPS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4270248"/>
            <a:ext cx="3026664" cy="6949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50" b="0" i="0">
                <a:solidFill>
                  <a:srgbClr val="AEBBD0"/>
                </a:solidFill>
                <a:latin typeface="Aptos"/>
              </a:rPr>
              <a:t>Publicación cloud, proxy inverso y acceso cifrado por dominio.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806440"/>
            <a:ext cx="10515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400" b="1" i="0">
                <a:solidFill>
                  <a:srgbClr val="33D3B0"/>
                </a:solidFill>
                <a:latin typeface="Aptos"/>
              </a:rPr>
              <a:t>Docker Compose se usa para levantar los dos nodos de RabbitMQ en desarrollo local.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4114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950" b="1" i="0">
                <a:solidFill>
                  <a:srgbClr val="33D3B0"/>
                </a:solidFill>
                <a:latin typeface="Aptos"/>
              </a:rPr>
              <a:t>04 ·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700" b="1" i="0">
                <a:solidFill>
                  <a:srgbClr val="F5F7FA"/>
                </a:solidFill>
                <a:latin typeface="Aptos"/>
              </a:rPr>
              <a:t>Qué quedó funcionando en AWS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960120" cy="4114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1018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850" b="0" i="0">
                <a:solidFill>
                  <a:srgbClr val="AEBBD0"/>
                </a:solidFill>
                <a:latin typeface="Aptos"/>
              </a:rPr>
              <a:t>CINE NOCTURNO  •  EVALUACIÓN 2                                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6400800" cy="4480560"/>
          </a:xfrm>
          <a:prstGeom prst="roundRect">
            <a:avLst>
              <a:gd name="adj" fmla="val 8000"/>
            </a:avLst>
          </a:prstGeom>
          <a:solidFill>
            <a:srgbClr val="17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83080"/>
            <a:ext cx="21031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  <a:latin typeface="Aptos"/>
              </a:rPr>
              <a:t>Entrada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57984"/>
            <a:ext cx="5394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800" b="1" i="0">
                <a:solidFill>
                  <a:srgbClr val="F5F7FA"/>
                </a:solidFill>
                <a:latin typeface="Aptos"/>
              </a:rPr>
              <a:t>cine-nocturno.duckdns.org  →  HTTPS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15184"/>
            <a:ext cx="53949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400" b="0" i="0">
                <a:solidFill>
                  <a:srgbClr val="AEBBD0"/>
                </a:solidFill>
                <a:latin typeface="Aptos"/>
              </a:rPr>
              <a:t>Nginx sirve el frontend y reenvía /api/ al backend.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3246120"/>
            <a:ext cx="5394960" cy="54864"/>
          </a:xfrm>
          <a:prstGeom prst="rect">
            <a:avLst/>
          </a:prstGeom>
          <a:solidFill>
            <a:srgbClr val="1C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493008"/>
            <a:ext cx="32918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 i="0">
                <a:solidFill>
                  <a:srgbClr val="33D3B0"/>
                </a:solidFill>
                <a:latin typeface="Aptos"/>
              </a:rPr>
              <a:t>Servicios administrados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931920"/>
            <a:ext cx="5486400" cy="164592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buChar char="•"/>
              <a:spcAft>
                <a:spcPts val="5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systemd mantiene cine-backend, cine-core, admin Rabbit y RabbitMQ.</a:t>
            </a:r>
          </a:p>
          <a:p>
            <a:pPr>
              <a:buChar char="•"/>
              <a:spcAft>
                <a:spcPts val="5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Los servicios se activaron de forma automática tras reiniciar EC2.</a:t>
            </a:r>
          </a:p>
          <a:p>
            <a:pPr>
              <a:buChar char="•"/>
              <a:spcAft>
                <a:spcPts val="5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Certbot / Let’s Encrypt: HTTPS y renovación automática.</a:t>
            </a:r>
          </a:p>
          <a:p>
            <a:pPr>
              <a:buChar char="•"/>
              <a:spcAft>
                <a:spcPts val="500"/>
              </a:spcAft>
              <a:defRPr sz="1350">
                <a:solidFill>
                  <a:srgbClr val="F5F7FA"/>
                </a:solidFill>
                <a:latin typeface="Aptos"/>
              </a:defRPr>
            </a:pPr>
            <a:r>
              <a:t>DuckDNS actualiza el destino si cambia la IP pública de EC2.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508760"/>
            <a:ext cx="4297680" cy="1234440"/>
          </a:xfrm>
          <a:prstGeom prst="roundRect">
            <a:avLst>
              <a:gd name="adj" fmla="val 8000"/>
            </a:avLst>
          </a:prstGeom>
          <a:solidFill>
            <a:srgbClr val="1C2A46"/>
          </a:solidFill>
          <a:ln w="13970">
            <a:solidFill>
              <a:srgbClr val="33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719072"/>
            <a:ext cx="10972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 i="0">
                <a:solidFill>
                  <a:srgbClr val="33D3B0"/>
                </a:solidFill>
                <a:latin typeface="Aptos"/>
              </a:rPr>
              <a:t>HTTPS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066543"/>
            <a:ext cx="36576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 i="0">
                <a:solidFill>
                  <a:srgbClr val="F5F7FA"/>
                </a:solidFill>
                <a:latin typeface="Aptos"/>
              </a:rPr>
              <a:t>Página y API responden; HTTP redirige a HTTPS.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2926080"/>
            <a:ext cx="4297680" cy="1234440"/>
          </a:xfrm>
          <a:prstGeom prst="roundRect">
            <a:avLst>
              <a:gd name="adj" fmla="val 8000"/>
            </a:avLst>
          </a:prstGeom>
          <a:solidFill>
            <a:srgbClr val="1C2A46"/>
          </a:solidFill>
          <a:ln w="13970">
            <a:solidFill>
              <a:srgbClr val="5B9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3127248"/>
            <a:ext cx="2377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 i="0">
                <a:solidFill>
                  <a:srgbClr val="5B9DF5"/>
                </a:solidFill>
                <a:latin typeface="Aptos"/>
              </a:rPr>
              <a:t>Seguridad de 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474720"/>
            <a:ext cx="36576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 i="0">
                <a:solidFill>
                  <a:srgbClr val="F5F7FA"/>
                </a:solidFill>
                <a:latin typeface="Aptos"/>
              </a:rPr>
              <a:t>SSH restringido; puertos internos de aplicación y RabbitMQ no publicados.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4343400"/>
            <a:ext cx="4297680" cy="1234440"/>
          </a:xfrm>
          <a:prstGeom prst="roundRect">
            <a:avLst>
              <a:gd name="adj" fmla="val 8000"/>
            </a:avLst>
          </a:prstGeom>
          <a:solidFill>
            <a:srgbClr val="1C2A46"/>
          </a:solidFill>
          <a:ln w="1397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4553712"/>
            <a:ext cx="2011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 i="0">
                <a:solidFill>
                  <a:srgbClr val="FFC857"/>
                </a:solidFill>
                <a:latin typeface="Aptos"/>
              </a:rPr>
              <a:t>Persistencia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901184"/>
            <a:ext cx="36576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 i="0">
                <a:solidFill>
                  <a:srgbClr val="F5F7FA"/>
                </a:solidFill>
                <a:latin typeface="Aptos"/>
              </a:rPr>
              <a:t>RDS MySQL guarda reservas; el contador se actualiza al reservar/cancelar.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26480"/>
            <a:ext cx="10698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300" b="0" i="1">
                <a:solidFill>
                  <a:srgbClr val="AEBBD0"/>
                </a:solidFill>
                <a:latin typeface="Aptos"/>
              </a:rPr>
              <a:t>El despliegue actual usa Nginx como proxy inverso; no un API Gateway desplegado.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4114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950" b="1" i="0">
                <a:solidFill>
                  <a:srgbClr val="33D3B0"/>
                </a:solidFill>
                <a:latin typeface="Aptos"/>
              </a:rPr>
              <a:t>05 · MENSAJERÍA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700" b="1" i="0">
                <a:solidFill>
                  <a:srgbClr val="F5F7FA"/>
                </a:solidFill>
                <a:latin typeface="Aptos"/>
              </a:rPr>
              <a:t>RabbitMQ: exchanges y enrutamiento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960120" cy="4114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1018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850" b="0" i="0">
                <a:solidFill>
                  <a:srgbClr val="AEBBD0"/>
                </a:solidFill>
                <a:latin typeface="Aptos"/>
              </a:rPr>
              <a:t>CINE NOCTURNO  •  EVALUACIÓN 2                                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657600" cy="4526280"/>
          </a:xfrm>
          <a:prstGeom prst="roundRect">
            <a:avLst>
              <a:gd name="adj" fmla="val 8000"/>
            </a:avLst>
          </a:prstGeom>
          <a:solidFill>
            <a:srgbClr val="17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37360"/>
            <a:ext cx="29260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300" b="1" i="0">
                <a:solidFill>
                  <a:srgbClr val="5B9DF5"/>
                </a:solidFill>
                <a:latin typeface="Aptos"/>
              </a:rPr>
              <a:t>cine.direct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76272"/>
            <a:ext cx="29260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400" b="0" i="0">
                <a:solidFill>
                  <a:srgbClr val="AEBBD0"/>
                </a:solidFill>
                <a:latin typeface="Aptos"/>
              </a:rPr>
              <a:t>Enrutamiento por clave exacta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2743200" cy="128016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buChar char="•"/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reserva.creada</a:t>
            </a:r>
          </a:p>
          <a:p>
            <a:pPr>
              <a:buChar char="•"/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reserva.cancelada</a:t>
            </a:r>
          </a:p>
          <a:p>
            <a:pPr>
              <a:buChar char="•"/>
              <a:spcAft>
                <a:spcPts val="10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ticket.generar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160520"/>
            <a:ext cx="2971800" cy="41148"/>
          </a:xfrm>
          <a:prstGeom prst="rect">
            <a:avLst/>
          </a:prstGeom>
          <a:solidFill>
            <a:srgbClr val="1C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07408"/>
            <a:ext cx="29260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300" b="1" i="0">
                <a:solidFill>
                  <a:srgbClr val="33D3B0"/>
                </a:solidFill>
                <a:latin typeface="Aptos"/>
              </a:rPr>
              <a:t>cine.topic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828032"/>
            <a:ext cx="2926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400" b="0" i="0">
                <a:solidFill>
                  <a:srgbClr val="AEBBD0"/>
                </a:solidFill>
                <a:latin typeface="Aptos"/>
              </a:rPr>
              <a:t>Enrutamiento por patrón: reserva.*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440680"/>
            <a:ext cx="28346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50" b="0" i="0">
                <a:solidFill>
                  <a:srgbClr val="33D3B0"/>
                </a:solidFill>
                <a:latin typeface="Aptos"/>
              </a:rPr>
              <a:t>La consola confirma que ambos exchanges de aplicación existen.</a:t>
            </a:r>
          </a:p>
        </p:txBody>
      </p:sp>
      <p:pic>
        <p:nvPicPr>
          <p:cNvPr id="15" name="Picture 14" descr="rabbitmq-exchanges-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83080"/>
            <a:ext cx="7086600" cy="34304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26280" y="5715000"/>
            <a:ext cx="6903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 i="1">
                <a:solidFill>
                  <a:srgbClr val="AEBBD0"/>
                </a:solidFill>
                <a:latin typeface="Aptos"/>
              </a:rPr>
              <a:t>Evidencia: RabbitMQ Management · exchanges de aplicación `cine.direct` y `cine.topic`.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4114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950" b="1" i="0">
                <a:solidFill>
                  <a:srgbClr val="33D3B0"/>
                </a:solidFill>
                <a:latin typeface="Aptos"/>
              </a:rPr>
              <a:t>06 ·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700" b="1" i="0">
                <a:solidFill>
                  <a:srgbClr val="F5F7FA"/>
                </a:solidFill>
                <a:latin typeface="Aptos"/>
              </a:rPr>
              <a:t>RabbitMQ: colas y prueba de DLQ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960120" cy="4114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1018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850" b="0" i="0">
                <a:solidFill>
                  <a:srgbClr val="AEBBD0"/>
                </a:solidFill>
                <a:latin typeface="Aptos"/>
              </a:rPr>
              <a:t>CINE NOCTURNO  •  EVALUACIÓN 2                                  07</a:t>
            </a:r>
          </a:p>
        </p:txBody>
      </p:sp>
      <p:pic>
        <p:nvPicPr>
          <p:cNvPr id="7" name="Picture 6" descr="rabbitmq-colas-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6903720" cy="162440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3977639"/>
            <a:ext cx="1965960" cy="475488"/>
          </a:xfrm>
          <a:prstGeom prst="roundRect">
            <a:avLst>
              <a:gd name="adj" fmla="val 8000"/>
            </a:avLst>
          </a:prstGeom>
          <a:solidFill>
            <a:srgbClr val="1C2A46"/>
          </a:solidFill>
          <a:ln w="13970">
            <a:solidFill>
              <a:srgbClr val="33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096512"/>
            <a:ext cx="17373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200" b="1" i="0">
                <a:solidFill>
                  <a:srgbClr val="33D3B0"/>
                </a:solidFill>
                <a:latin typeface="Aptos"/>
              </a:rPr>
              <a:t>6 colas activas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3977639"/>
            <a:ext cx="1874519" cy="475488"/>
          </a:xfrm>
          <a:prstGeom prst="roundRect">
            <a:avLst>
              <a:gd name="adj" fmla="val 8000"/>
            </a:avLst>
          </a:prstGeom>
          <a:solidFill>
            <a:srgbClr val="1C2A46"/>
          </a:solidFill>
          <a:ln w="13970">
            <a:solidFill>
              <a:srgbClr val="5B9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4096512"/>
            <a:ext cx="1664208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200" b="1" i="0">
                <a:solidFill>
                  <a:srgbClr val="5B9DF5"/>
                </a:solidFill>
                <a:latin typeface="Aptos"/>
              </a:rPr>
              <a:t>0 mensajes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73168" y="3977639"/>
            <a:ext cx="2029968" cy="475488"/>
          </a:xfrm>
          <a:prstGeom prst="roundRect">
            <a:avLst>
              <a:gd name="adj" fmla="val 8000"/>
            </a:avLst>
          </a:prstGeom>
          <a:solidFill>
            <a:srgbClr val="1C2A46"/>
          </a:solidFill>
          <a:ln w="1397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4096512"/>
            <a:ext cx="1847088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ctr"/>
            <a:r>
              <a:rPr sz="1200" b="1" i="0">
                <a:solidFill>
                  <a:srgbClr val="FFC857"/>
                </a:solidFill>
                <a:latin typeface="Aptos"/>
              </a:rPr>
              <a:t>0 sin confirmar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667512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050" b="0" i="1">
                <a:solidFill>
                  <a:srgbClr val="AEBBD0"/>
                </a:solidFill>
                <a:latin typeface="Aptos"/>
              </a:rPr>
              <a:t>Captura de la consola; el estado vacío también se confirmó por terminal después de las pruebas.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508760"/>
            <a:ext cx="3977639" cy="4434840"/>
          </a:xfrm>
          <a:prstGeom prst="roundRect">
            <a:avLst>
              <a:gd name="adj" fmla="val 8000"/>
            </a:avLst>
          </a:prstGeom>
          <a:solidFill>
            <a:srgbClr val="17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1783080"/>
            <a:ext cx="33832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000" b="1" i="0">
                <a:solidFill>
                  <a:srgbClr val="33D3B0"/>
                </a:solidFill>
                <a:latin typeface="Aptos"/>
              </a:rPr>
              <a:t>Pruebas ejecutadas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31720"/>
            <a:ext cx="3337560" cy="292608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buChar char="•"/>
              <a:spcAft>
                <a:spcPts val="8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Tickets → cine.tickets.dlq</a:t>
            </a:r>
          </a:p>
          <a:p>
            <a:pPr>
              <a:buChar char="•"/>
              <a:spcAft>
                <a:spcPts val="8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Notificaciones → cine.notificaciones.dlq</a:t>
            </a:r>
          </a:p>
          <a:p>
            <a:pPr>
              <a:buChar char="•"/>
              <a:spcAft>
                <a:spcPts val="8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Auditoría → cine.auditoria.dlq</a:t>
            </a:r>
          </a:p>
          <a:p>
            <a:pPr>
              <a:buChar char="•"/>
              <a:spcAft>
                <a:spcPts val="8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Los tres mensajes inválidos fueron rechazados.</a:t>
            </a:r>
          </a:p>
          <a:p>
            <a:pPr>
              <a:buChar char="•"/>
              <a:spcAft>
                <a:spcPts val="800"/>
              </a:spcAft>
              <a:defRPr sz="1300">
                <a:solidFill>
                  <a:srgbClr val="F5F7FA"/>
                </a:solidFill>
                <a:latin typeface="Aptos"/>
              </a:defRPr>
            </a:pPr>
            <a:r>
              <a:t>Al final, las 6 colas quedaron en cero.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5303520"/>
            <a:ext cx="324612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100" b="0" i="1">
                <a:solidFill>
                  <a:srgbClr val="AEBBD0"/>
                </a:solidFill>
                <a:latin typeface="Aptos"/>
              </a:rPr>
              <a:t>Los logs registraron errores de conversión JSON y el rechazo del mensaje.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4114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950" b="1" i="0">
                <a:solidFill>
                  <a:srgbClr val="33D3B0"/>
                </a:solidFill>
                <a:latin typeface="Aptos"/>
              </a:rPr>
              <a:t>07 · APRENDIZAJES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700" b="1" i="0">
                <a:solidFill>
                  <a:srgbClr val="F5F7FA"/>
                </a:solidFill>
                <a:latin typeface="Aptos"/>
              </a:rPr>
              <a:t>Problemas encontrados y soluciones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960120" cy="4114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1018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850" b="0" i="0">
                <a:solidFill>
                  <a:srgbClr val="AEBBD0"/>
                </a:solidFill>
                <a:latin typeface="Aptos"/>
              </a:rPr>
              <a:t>CINE NOCTURNO  •  EVALUACIÓN 2                                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440680" cy="1078992"/>
          </a:xfrm>
          <a:prstGeom prst="roundRect">
            <a:avLst>
              <a:gd name="adj" fmla="val 8000"/>
            </a:avLst>
          </a:prstGeom>
          <a:solidFill>
            <a:srgbClr val="17223B"/>
          </a:solidFill>
          <a:ln w="13970"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55063"/>
            <a:ext cx="503834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  <a:latin typeface="Aptos"/>
              </a:rPr>
              <a:t>IP pública cambiante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11680"/>
            <a:ext cx="50383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 i="0">
                <a:solidFill>
                  <a:srgbClr val="F5F7FA"/>
                </a:solidFill>
                <a:latin typeface="Aptos"/>
              </a:rPr>
              <a:t>DuckDNS + actualizador automático de DNS.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08760"/>
            <a:ext cx="5440680" cy="1078992"/>
          </a:xfrm>
          <a:prstGeom prst="roundRect">
            <a:avLst>
              <a:gd name="adj" fmla="val 8000"/>
            </a:avLst>
          </a:prstGeom>
          <a:solidFill>
            <a:srgbClr val="17223B"/>
          </a:solidFill>
          <a:ln w="13970">
            <a:solidFill>
              <a:srgbClr val="5B9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655063"/>
            <a:ext cx="503834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600" b="1" i="0">
                <a:solidFill>
                  <a:srgbClr val="5B9DF5"/>
                </a:solidFill>
                <a:latin typeface="Aptos"/>
              </a:rPr>
              <a:t>CORS y respuestas 401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011680"/>
            <a:ext cx="50383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 i="0">
                <a:solidFill>
                  <a:srgbClr val="F5F7FA"/>
                </a:solidFill>
                <a:latin typeface="Aptos"/>
              </a:rPr>
              <a:t>Ajuste de CORS dentro de la configuración de Spring Security.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07791"/>
            <a:ext cx="5440680" cy="1078992"/>
          </a:xfrm>
          <a:prstGeom prst="roundRect">
            <a:avLst>
              <a:gd name="adj" fmla="val 8000"/>
            </a:avLst>
          </a:prstGeom>
          <a:solidFill>
            <a:srgbClr val="17223B"/>
          </a:solidFill>
          <a:ln w="13970">
            <a:solidFill>
              <a:srgbClr val="33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054096"/>
            <a:ext cx="503834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600" b="1" i="0">
                <a:solidFill>
                  <a:srgbClr val="33D3B0"/>
                </a:solidFill>
                <a:latin typeface="Aptos"/>
              </a:rPr>
              <a:t>Contador de asientos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410711"/>
            <a:ext cx="50383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 i="0">
                <a:solidFill>
                  <a:srgbClr val="F5F7FA"/>
                </a:solidFill>
                <a:latin typeface="Aptos"/>
              </a:rPr>
              <a:t>Triggers MySQL para reservar/cancelar y control de asiento duplicado.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907791"/>
            <a:ext cx="5440680" cy="1078992"/>
          </a:xfrm>
          <a:prstGeom prst="roundRect">
            <a:avLst>
              <a:gd name="adj" fmla="val 8000"/>
            </a:avLst>
          </a:prstGeom>
          <a:solidFill>
            <a:srgbClr val="17223B"/>
          </a:solidFill>
          <a:ln w="1397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3054096"/>
            <a:ext cx="503834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600" b="1" i="0">
                <a:solidFill>
                  <a:srgbClr val="FFC857"/>
                </a:solidFill>
                <a:latin typeface="Aptos"/>
              </a:rPr>
              <a:t>Arranque tras reinicio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3410711"/>
            <a:ext cx="503834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 i="0">
                <a:solidFill>
                  <a:srgbClr val="F5F7FA"/>
                </a:solidFill>
                <a:latin typeface="Aptos"/>
              </a:rPr>
              <a:t>Servicios gestionados por systemd; se comprobó el reinicio de EC2.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43400"/>
            <a:ext cx="10972800" cy="1078992"/>
          </a:xfrm>
          <a:prstGeom prst="roundRect">
            <a:avLst>
              <a:gd name="adj" fmla="val 8000"/>
            </a:avLst>
          </a:prstGeom>
          <a:solidFill>
            <a:srgbClr val="17223B"/>
          </a:solidFill>
          <a:ln w="13970">
            <a:solidFill>
              <a:srgbClr val="33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4489704"/>
            <a:ext cx="1057046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600" b="1" i="0">
                <a:solidFill>
                  <a:srgbClr val="33D3B0"/>
                </a:solidFill>
                <a:latin typeface="Aptos"/>
              </a:rPr>
              <a:t>Exposición de puertos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846320"/>
            <a:ext cx="10570464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250" b="0" i="0">
                <a:solidFill>
                  <a:srgbClr val="F5F7FA"/>
                </a:solidFill>
                <a:latin typeface="Aptos"/>
              </a:rPr>
              <a:t>Puertos de servicios y RabbitMQ cerrados al acceso directo público.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89320"/>
            <a:ext cx="106070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400" b="0" i="1">
                <a:solidFill>
                  <a:srgbClr val="AEBBD0"/>
                </a:solidFill>
                <a:latin typeface="Aptos"/>
              </a:rPr>
              <a:t>Los errores detectados se documentaron como mejoras técnicas; no se ocultaron ni se confundieron con nuevas funciones.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4114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950" b="1" i="0">
                <a:solidFill>
                  <a:srgbClr val="33D3B0"/>
                </a:solidFill>
                <a:latin typeface="Aptos"/>
              </a:rPr>
              <a:t>08 · 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2700" b="1" i="0">
                <a:solidFill>
                  <a:srgbClr val="F5F7FA"/>
                </a:solidFill>
                <a:latin typeface="Aptos"/>
              </a:rPr>
              <a:t>Estado actual y cierre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960120" cy="4114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11018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850" b="0" i="0">
                <a:solidFill>
                  <a:srgbClr val="AEBBD0"/>
                </a:solidFill>
                <a:latin typeface="Aptos"/>
              </a:rPr>
              <a:t>CINE NOCTURNO  •  EVALUACIÓN 2                                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257800" cy="4389120"/>
          </a:xfrm>
          <a:prstGeom prst="roundRect">
            <a:avLst>
              <a:gd name="adj" fmla="val 8000"/>
            </a:avLst>
          </a:prstGeom>
          <a:solidFill>
            <a:srgbClr val="1C2A46"/>
          </a:solidFill>
          <a:ln w="13970">
            <a:solidFill>
              <a:srgbClr val="33D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44805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 i="0">
                <a:solidFill>
                  <a:srgbClr val="33D3B0"/>
                </a:solidFill>
                <a:latin typeface="Aptos"/>
              </a:rPr>
              <a:t>VALIDADO EN LA SEGUNDA ENTREGA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526280" cy="283464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buChar char="•"/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Servidor AWS operativo y publicación HTTPS.</a:t>
            </a:r>
          </a:p>
          <a:p>
            <a:pPr>
              <a:buChar char="•"/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Inicio de sesión, reserva y cancelación verificados.</a:t>
            </a:r>
          </a:p>
          <a:p>
            <a:pPr>
              <a:buChar char="•"/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Persistencia RDS y disponibilidad de asientos comprobadas.</a:t>
            </a:r>
          </a:p>
          <a:p>
            <a:pPr>
              <a:buChar char="•"/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Clúster RabbitMQ, exchanges, colas y enrutamiento a DLQ verificados.</a:t>
            </a:r>
          </a:p>
          <a:p>
            <a:pPr>
              <a:buChar char="•"/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Servicios iniciados automáticamente tras reiniciar EC2.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257800" cy="4389120"/>
          </a:xfrm>
          <a:prstGeom prst="roundRect">
            <a:avLst>
              <a:gd name="adj" fmla="val 8000"/>
            </a:avLst>
          </a:prstGeom>
          <a:solidFill>
            <a:srgbClr val="17223B"/>
          </a:solidFill>
          <a:ln w="1397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810512"/>
            <a:ext cx="44805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700" b="1" i="0">
                <a:solidFill>
                  <a:srgbClr val="FFC857"/>
                </a:solidFill>
                <a:latin typeface="Aptos"/>
              </a:rPr>
              <a:t>MEJORAS FUTURAS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31720"/>
            <a:ext cx="4480560" cy="256032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buChar char="•"/>
              <a:spcAft>
                <a:spcPts val="1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Probar reintentos personalizados con mensajes JSON válidos que fallen al procesarse.</a:t>
            </a:r>
          </a:p>
          <a:p>
            <a:pPr>
              <a:buChar char="•"/>
              <a:spcAft>
                <a:spcPts val="1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Integrar proveedor real de correo y emisión de tickets; hoy se simulan por eventos/logs.</a:t>
            </a:r>
          </a:p>
          <a:p>
            <a:pPr>
              <a:buChar char="•"/>
              <a:spcAft>
                <a:spcPts val="12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Mantener secretos de producción fuera del repositorio y del código.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44768"/>
            <a:ext cx="106984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rmAutofit/>
          </a:bodyPr>
          <a:lstStyle/>
          <a:p>
            <a:pPr algn="l"/>
            <a:r>
              <a:rPr sz="1500" b="1" i="0">
                <a:solidFill>
                  <a:srgbClr val="FF7043"/>
                </a:solidFill>
                <a:latin typeface="Aptos"/>
              </a:rPr>
              <a:t>En esta segunda entrega, el foco principal fue conseguir que el sistema funcionara en AWS y comprobarlo con evidencias.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